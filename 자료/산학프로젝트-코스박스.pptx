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gVmGSNaNP4QePPGycDisKKnR7f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215527" y="668058"/>
            <a:ext cx="360642" cy="360642"/>
            <a:chOff x="0" y="0"/>
            <a:chExt cx="812800" cy="81280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2E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0" y="-191449"/>
            <a:ext cx="18288000" cy="8603284"/>
            <a:chOff x="0" y="-57150"/>
            <a:chExt cx="4816593" cy="2265886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4816592" cy="2208736"/>
            </a:xfrm>
            <a:custGeom>
              <a:rect b="b" l="l" r="r" t="t"/>
              <a:pathLst>
                <a:path extrusionOk="0" h="220873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208736"/>
                  </a:lnTo>
                  <a:lnTo>
                    <a:pt x="0" y="2208736"/>
                  </a:lnTo>
                  <a:close/>
                </a:path>
              </a:pathLst>
            </a:custGeom>
            <a:solidFill>
              <a:srgbClr val="C6C8B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-57150"/>
              <a:ext cx="4816593" cy="2265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0" y="-226516"/>
            <a:ext cx="18288000" cy="8603284"/>
            <a:chOff x="0" y="-57150"/>
            <a:chExt cx="4816593" cy="2265886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4816592" cy="2208736"/>
            </a:xfrm>
            <a:custGeom>
              <a:rect b="b" l="l" r="r" t="t"/>
              <a:pathLst>
                <a:path extrusionOk="0" h="220873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208736"/>
                  </a:lnTo>
                  <a:lnTo>
                    <a:pt x="0" y="2208736"/>
                  </a:lnTo>
                  <a:close/>
                </a:path>
              </a:pathLst>
            </a:custGeom>
            <a:solidFill>
              <a:srgbClr val="EFF2E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57150"/>
              <a:ext cx="4816593" cy="2265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7073936" y="7617888"/>
            <a:ext cx="4028897" cy="1463234"/>
            <a:chOff x="0" y="-19823"/>
            <a:chExt cx="1150861" cy="417975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150861" cy="398152"/>
            </a:xfrm>
            <a:custGeom>
              <a:rect b="b" l="l" r="r" t="t"/>
              <a:pathLst>
                <a:path extrusionOk="0" h="398152" w="1150861">
                  <a:moveTo>
                    <a:pt x="575430" y="0"/>
                  </a:moveTo>
                  <a:cubicBezTo>
                    <a:pt x="257629" y="0"/>
                    <a:pt x="0" y="89129"/>
                    <a:pt x="0" y="199076"/>
                  </a:cubicBezTo>
                  <a:cubicBezTo>
                    <a:pt x="0" y="309023"/>
                    <a:pt x="257629" y="398152"/>
                    <a:pt x="575430" y="398152"/>
                  </a:cubicBezTo>
                  <a:cubicBezTo>
                    <a:pt x="893232" y="398152"/>
                    <a:pt x="1150861" y="309023"/>
                    <a:pt x="1150861" y="199076"/>
                  </a:cubicBezTo>
                  <a:cubicBezTo>
                    <a:pt x="1150861" y="89129"/>
                    <a:pt x="893232" y="0"/>
                    <a:pt x="575430" y="0"/>
                  </a:cubicBezTo>
                  <a:close/>
                </a:path>
              </a:pathLst>
            </a:custGeom>
            <a:solidFill>
              <a:srgbClr val="58504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107893" y="-19823"/>
              <a:ext cx="935075" cy="3806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2488106" y="3552401"/>
            <a:ext cx="13311787" cy="1185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0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COURSEBOX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7073936" y="8131473"/>
            <a:ext cx="4028897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9FAF5"/>
                </a:solidFill>
                <a:latin typeface="Arial"/>
                <a:ea typeface="Arial"/>
                <a:cs typeface="Arial"/>
                <a:sym typeface="Arial"/>
              </a:rPr>
              <a:t>신학프로젝트 1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5294663" y="4883438"/>
            <a:ext cx="7698674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A48F7B"/>
                </a:solidFill>
                <a:latin typeface="Arial"/>
                <a:ea typeface="Arial"/>
                <a:cs typeface="Arial"/>
                <a:sym typeface="Arial"/>
              </a:rPr>
              <a:t> “AI 기반 맞춤형 여행 일정 생성 서비스”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E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2215527" y="668058"/>
            <a:ext cx="360642" cy="360642"/>
            <a:chOff x="0" y="0"/>
            <a:chExt cx="812800" cy="812800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2E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 txBox="1"/>
          <p:nvPr/>
        </p:nvSpPr>
        <p:spPr>
          <a:xfrm rot="-5400000">
            <a:off x="-3535406" y="4331622"/>
            <a:ext cx="10394489" cy="1731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0">
                <a:solidFill>
                  <a:srgbClr val="B2B09B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0709965" y="2942464"/>
            <a:ext cx="7047050" cy="86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05 Expected Impact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3819823" y="2942464"/>
            <a:ext cx="6558302" cy="402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01  System Architecture</a:t>
            </a:r>
            <a:endParaRPr/>
          </a:p>
          <a:p>
            <a:pPr indent="0" lvl="0" marL="0" marR="0" rtl="0" algn="l">
              <a:lnSpc>
                <a:spcPct val="2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02 Data Flow</a:t>
            </a:r>
            <a:endParaRPr/>
          </a:p>
          <a:p>
            <a:pPr indent="0" lvl="0" marL="0" marR="0" rtl="0" algn="l">
              <a:lnSpc>
                <a:spcPct val="2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03 Expected Output</a:t>
            </a:r>
            <a:endParaRPr/>
          </a:p>
          <a:p>
            <a:pPr indent="0" lvl="0" marL="0" marR="0" rtl="0" algn="l">
              <a:lnSpc>
                <a:spcPct val="2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04 Development Timeline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E7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3655532" y="2269020"/>
            <a:ext cx="10503384" cy="6989280"/>
          </a:xfrm>
          <a:custGeom>
            <a:rect b="b" l="l" r="r" t="t"/>
            <a:pathLst>
              <a:path extrusionOk="0" h="646781" w="971973">
                <a:moveTo>
                  <a:pt x="16953" y="0"/>
                </a:moveTo>
                <a:lnTo>
                  <a:pt x="955020" y="0"/>
                </a:lnTo>
                <a:cubicBezTo>
                  <a:pt x="959516" y="0"/>
                  <a:pt x="963828" y="1786"/>
                  <a:pt x="967008" y="4965"/>
                </a:cubicBezTo>
                <a:cubicBezTo>
                  <a:pt x="970187" y="8145"/>
                  <a:pt x="971973" y="12457"/>
                  <a:pt x="971973" y="16953"/>
                </a:cubicBezTo>
                <a:lnTo>
                  <a:pt x="971973" y="629828"/>
                </a:lnTo>
                <a:cubicBezTo>
                  <a:pt x="971973" y="639191"/>
                  <a:pt x="964383" y="646781"/>
                  <a:pt x="955020" y="646781"/>
                </a:cubicBezTo>
                <a:lnTo>
                  <a:pt x="16953" y="646781"/>
                </a:lnTo>
                <a:cubicBezTo>
                  <a:pt x="7590" y="646781"/>
                  <a:pt x="0" y="639191"/>
                  <a:pt x="0" y="629828"/>
                </a:cubicBezTo>
                <a:lnTo>
                  <a:pt x="0" y="16953"/>
                </a:lnTo>
                <a:cubicBezTo>
                  <a:pt x="0" y="7590"/>
                  <a:pt x="7590" y="0"/>
                  <a:pt x="1695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707" r="-270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-181331" y="1990473"/>
            <a:ext cx="18469331" cy="0"/>
          </a:xfrm>
          <a:prstGeom prst="straightConnector1">
            <a:avLst/>
          </a:prstGeom>
          <a:noFill/>
          <a:ln cap="flat" cmpd="sng" w="19050">
            <a:solidFill>
              <a:srgbClr val="C6C8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3"/>
          <p:cNvSpPr txBox="1"/>
          <p:nvPr/>
        </p:nvSpPr>
        <p:spPr>
          <a:xfrm>
            <a:off x="1028700" y="607761"/>
            <a:ext cx="1129218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2157918" y="588711"/>
            <a:ext cx="15046127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 System Architecture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2979518" y="9467850"/>
            <a:ext cx="11855412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403B"/>
                </a:solidFill>
                <a:latin typeface="Arial"/>
                <a:ea typeface="Arial"/>
                <a:cs typeface="Arial"/>
                <a:sym typeface="Arial"/>
              </a:rPr>
              <a:t>“GPT-4o와 RAG를 결합한 AI 기반 여행 일정 생성 시스템”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E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Google Shape;122;p4"/>
          <p:cNvCxnSpPr/>
          <p:nvPr/>
        </p:nvCxnSpPr>
        <p:spPr>
          <a:xfrm>
            <a:off x="-181331" y="1990473"/>
            <a:ext cx="18469331" cy="0"/>
          </a:xfrm>
          <a:prstGeom prst="straightConnector1">
            <a:avLst/>
          </a:prstGeom>
          <a:noFill/>
          <a:ln cap="flat" cmpd="sng" w="19050">
            <a:solidFill>
              <a:srgbClr val="C6C8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028700" y="607761"/>
            <a:ext cx="1129218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2157918" y="588711"/>
            <a:ext cx="15046127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Data Flow</a:t>
            </a:r>
            <a:endParaRPr/>
          </a:p>
        </p:txBody>
      </p:sp>
      <p:grpSp>
        <p:nvGrpSpPr>
          <p:cNvPr id="125" name="Google Shape;125;p4"/>
          <p:cNvGrpSpPr/>
          <p:nvPr/>
        </p:nvGrpSpPr>
        <p:grpSpPr>
          <a:xfrm>
            <a:off x="10588038" y="6323468"/>
            <a:ext cx="1495574" cy="1495574"/>
            <a:chOff x="0" y="0"/>
            <a:chExt cx="1994099" cy="1994099"/>
          </a:xfrm>
        </p:grpSpPr>
        <p:grpSp>
          <p:nvGrpSpPr>
            <p:cNvPr id="126" name="Google Shape;126;p4"/>
            <p:cNvGrpSpPr/>
            <p:nvPr/>
          </p:nvGrpSpPr>
          <p:grpSpPr>
            <a:xfrm>
              <a:off x="0" y="0"/>
              <a:ext cx="1994099" cy="1994099"/>
              <a:chOff x="0" y="0"/>
              <a:chExt cx="812800" cy="812800"/>
            </a:xfrm>
          </p:grpSpPr>
          <p:sp>
            <p:nvSpPr>
              <p:cNvPr id="127" name="Google Shape;127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8504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1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" name="Google Shape;129;p4"/>
            <p:cNvSpPr txBox="1"/>
            <p:nvPr/>
          </p:nvSpPr>
          <p:spPr>
            <a:xfrm>
              <a:off x="22857" y="287579"/>
              <a:ext cx="1948500" cy="126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000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56">
                  <a:solidFill>
                    <a:srgbClr val="F9FAF5"/>
                  </a:solidFill>
                  <a:latin typeface="Arial"/>
                  <a:ea typeface="Arial"/>
                  <a:cs typeface="Arial"/>
                  <a:sym typeface="Arial"/>
                </a:rPr>
                <a:t> Data </a:t>
              </a:r>
              <a:endParaRPr b="1" sz="2056">
                <a:solidFill>
                  <a:srgbClr val="F9FAF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2000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56">
                  <a:solidFill>
                    <a:srgbClr val="F9FAF5"/>
                  </a:solidFill>
                  <a:latin typeface="Arial"/>
                  <a:ea typeface="Arial"/>
                  <a:cs typeface="Arial"/>
                  <a:sym typeface="Arial"/>
                </a:rPr>
                <a:t>Layer</a:t>
              </a:r>
              <a:endParaRPr/>
            </a:p>
          </p:txBody>
        </p:sp>
      </p:grpSp>
      <p:sp>
        <p:nvSpPr>
          <p:cNvPr id="130" name="Google Shape;130;p4"/>
          <p:cNvSpPr txBox="1"/>
          <p:nvPr/>
        </p:nvSpPr>
        <p:spPr>
          <a:xfrm>
            <a:off x="12872272" y="6438599"/>
            <a:ext cx="3620161" cy="1274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4138" lvl="1" marL="468276" marR="0" rtl="0" algn="l">
              <a:lnSpc>
                <a:spcPct val="159040"/>
              </a:lnSpc>
              <a:spcBef>
                <a:spcPts val="0"/>
              </a:spcBef>
              <a:spcAft>
                <a:spcPts val="0"/>
              </a:spcAft>
              <a:buClr>
                <a:srgbClr val="585049"/>
              </a:buClr>
              <a:buSzPts val="2168"/>
              <a:buFont typeface="Arial"/>
              <a:buChar char="•"/>
            </a:pPr>
            <a:r>
              <a:rPr b="0" i="0" lang="en-US" sz="2168" u="none" cap="none" strike="noStrike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ChromaDB: 관광 데이터 저장</a:t>
            </a:r>
            <a:endParaRPr/>
          </a:p>
          <a:p>
            <a:pPr indent="-234138" lvl="1" marL="468276" marR="0" rtl="0" algn="l">
              <a:lnSpc>
                <a:spcPct val="159040"/>
              </a:lnSpc>
              <a:spcBef>
                <a:spcPts val="0"/>
              </a:spcBef>
              <a:spcAft>
                <a:spcPts val="0"/>
              </a:spcAft>
              <a:buClr>
                <a:srgbClr val="585049"/>
              </a:buClr>
              <a:buSzPts val="2168"/>
              <a:buFont typeface="Arial"/>
              <a:buChar char="•"/>
            </a:pPr>
            <a:r>
              <a:rPr b="0" i="0" lang="en-US" sz="2168" u="none" cap="none" strike="noStrike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외부 API: 위치/리뷰 보완</a:t>
            </a:r>
            <a:endParaRPr/>
          </a:p>
        </p:txBody>
      </p:sp>
      <p:grpSp>
        <p:nvGrpSpPr>
          <p:cNvPr id="131" name="Google Shape;131;p4"/>
          <p:cNvGrpSpPr/>
          <p:nvPr/>
        </p:nvGrpSpPr>
        <p:grpSpPr>
          <a:xfrm>
            <a:off x="10516690" y="4257572"/>
            <a:ext cx="1638270" cy="1495574"/>
            <a:chOff x="0" y="0"/>
            <a:chExt cx="2184359" cy="1994099"/>
          </a:xfrm>
        </p:grpSpPr>
        <p:grpSp>
          <p:nvGrpSpPr>
            <p:cNvPr id="132" name="Google Shape;132;p4"/>
            <p:cNvGrpSpPr/>
            <p:nvPr/>
          </p:nvGrpSpPr>
          <p:grpSpPr>
            <a:xfrm>
              <a:off x="95130" y="0"/>
              <a:ext cx="1994099" cy="1994099"/>
              <a:chOff x="0" y="0"/>
              <a:chExt cx="812800" cy="812800"/>
            </a:xfrm>
          </p:grpSpPr>
          <p:sp>
            <p:nvSpPr>
              <p:cNvPr id="133" name="Google Shape;13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8504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1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" name="Google Shape;135;p4"/>
            <p:cNvSpPr txBox="1"/>
            <p:nvPr/>
          </p:nvSpPr>
          <p:spPr>
            <a:xfrm>
              <a:off x="0" y="635764"/>
              <a:ext cx="2184359" cy="58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000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56">
                  <a:solidFill>
                    <a:srgbClr val="F9FAF5"/>
                  </a:solidFill>
                  <a:latin typeface="Arial"/>
                  <a:ea typeface="Arial"/>
                  <a:cs typeface="Arial"/>
                  <a:sym typeface="Arial"/>
                </a:rPr>
                <a:t>Backend</a:t>
              </a:r>
              <a:endParaRPr/>
            </a:p>
          </p:txBody>
        </p:sp>
      </p:grpSp>
      <p:sp>
        <p:nvSpPr>
          <p:cNvPr id="136" name="Google Shape;136;p4"/>
          <p:cNvSpPr txBox="1"/>
          <p:nvPr/>
        </p:nvSpPr>
        <p:spPr>
          <a:xfrm>
            <a:off x="12878860" y="4047054"/>
            <a:ext cx="3863511" cy="1274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4138" lvl="1" marL="468276" marR="0" rtl="0" algn="l">
              <a:lnSpc>
                <a:spcPct val="159040"/>
              </a:lnSpc>
              <a:spcBef>
                <a:spcPts val="0"/>
              </a:spcBef>
              <a:spcAft>
                <a:spcPts val="0"/>
              </a:spcAft>
              <a:buClr>
                <a:srgbClr val="585049"/>
              </a:buClr>
              <a:buSzPts val="2168"/>
              <a:buFont typeface="Arial"/>
              <a:buChar char="•"/>
            </a:pPr>
            <a:r>
              <a:rPr b="0" i="0" lang="en-US" sz="2168" u="none" cap="none" strike="noStrike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LangChain: 전체 로직 조율</a:t>
            </a:r>
            <a:endParaRPr/>
          </a:p>
          <a:p>
            <a:pPr indent="-234138" lvl="1" marL="468276" marR="0" rtl="0" algn="l">
              <a:lnSpc>
                <a:spcPct val="159040"/>
              </a:lnSpc>
              <a:spcBef>
                <a:spcPts val="0"/>
              </a:spcBef>
              <a:spcAft>
                <a:spcPts val="0"/>
              </a:spcAft>
              <a:buClr>
                <a:srgbClr val="585049"/>
              </a:buClr>
              <a:buSzPts val="2168"/>
              <a:buFont typeface="Arial"/>
              <a:buChar char="•"/>
            </a:pPr>
            <a:r>
              <a:rPr b="0" i="0" lang="en-US" sz="2168" u="none" cap="none" strike="noStrike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RAG: 관광 데이터 검색</a:t>
            </a:r>
            <a:endParaRPr/>
          </a:p>
          <a:p>
            <a:pPr indent="-234138" lvl="1" marL="468276" marR="0" rtl="0" algn="l">
              <a:lnSpc>
                <a:spcPct val="159040"/>
              </a:lnSpc>
              <a:spcBef>
                <a:spcPts val="0"/>
              </a:spcBef>
              <a:spcAft>
                <a:spcPts val="0"/>
              </a:spcAft>
              <a:buClr>
                <a:srgbClr val="585049"/>
              </a:buClr>
              <a:buSzPts val="2168"/>
              <a:buFont typeface="Arial"/>
              <a:buChar char="•"/>
            </a:pPr>
            <a:r>
              <a:rPr b="0" i="0" lang="en-US" sz="2168" u="none" cap="none" strike="noStrike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GPT-4o: 여행 일정 생성</a:t>
            </a:r>
            <a:endParaRPr/>
          </a:p>
        </p:txBody>
      </p:sp>
      <p:grpSp>
        <p:nvGrpSpPr>
          <p:cNvPr id="137" name="Google Shape;137;p4"/>
          <p:cNvGrpSpPr/>
          <p:nvPr/>
        </p:nvGrpSpPr>
        <p:grpSpPr>
          <a:xfrm>
            <a:off x="10588038" y="2247648"/>
            <a:ext cx="1495574" cy="1495574"/>
            <a:chOff x="0" y="0"/>
            <a:chExt cx="1994099" cy="1994099"/>
          </a:xfrm>
        </p:grpSpPr>
        <p:grpSp>
          <p:nvGrpSpPr>
            <p:cNvPr id="138" name="Google Shape;138;p4"/>
            <p:cNvGrpSpPr/>
            <p:nvPr/>
          </p:nvGrpSpPr>
          <p:grpSpPr>
            <a:xfrm>
              <a:off x="0" y="0"/>
              <a:ext cx="1994099" cy="1994099"/>
              <a:chOff x="0" y="0"/>
              <a:chExt cx="812800" cy="812800"/>
            </a:xfrm>
          </p:grpSpPr>
          <p:sp>
            <p:nvSpPr>
              <p:cNvPr id="139" name="Google Shape;139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8504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1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" name="Google Shape;141;p4"/>
            <p:cNvSpPr txBox="1"/>
            <p:nvPr/>
          </p:nvSpPr>
          <p:spPr>
            <a:xfrm>
              <a:off x="45715" y="658621"/>
              <a:ext cx="1948384" cy="58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000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56">
                  <a:solidFill>
                    <a:srgbClr val="F9FAF5"/>
                  </a:solidFill>
                  <a:latin typeface="Arial"/>
                  <a:ea typeface="Arial"/>
                  <a:cs typeface="Arial"/>
                  <a:sym typeface="Arial"/>
                </a:rPr>
                <a:t>사용자 입력</a:t>
              </a:r>
              <a:endParaRPr/>
            </a:p>
          </p:txBody>
        </p:sp>
      </p:grpSp>
      <p:sp>
        <p:nvSpPr>
          <p:cNvPr id="142" name="Google Shape;142;p4"/>
          <p:cNvSpPr txBox="1"/>
          <p:nvPr/>
        </p:nvSpPr>
        <p:spPr>
          <a:xfrm>
            <a:off x="12878860" y="2531476"/>
            <a:ext cx="3620161" cy="842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4138" lvl="1" marL="468276" marR="0" rtl="0" algn="l">
              <a:lnSpc>
                <a:spcPct val="159040"/>
              </a:lnSpc>
              <a:spcBef>
                <a:spcPts val="0"/>
              </a:spcBef>
              <a:spcAft>
                <a:spcPts val="0"/>
              </a:spcAft>
              <a:buClr>
                <a:srgbClr val="585049"/>
              </a:buClr>
              <a:buSzPts val="2168"/>
              <a:buFont typeface="Arial"/>
              <a:buChar char="•"/>
            </a:pPr>
            <a:r>
              <a:rPr b="0" i="0" lang="en-US" sz="2168" u="none" cap="none" strike="noStrike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자연어로 여행 조건 입력</a:t>
            </a:r>
            <a:endParaRPr/>
          </a:p>
          <a:p>
            <a:pPr indent="-234138" lvl="1" marL="468276" marR="0" rtl="0" algn="l">
              <a:lnSpc>
                <a:spcPct val="159040"/>
              </a:lnSpc>
              <a:spcBef>
                <a:spcPts val="0"/>
              </a:spcBef>
              <a:spcAft>
                <a:spcPts val="0"/>
              </a:spcAft>
              <a:buClr>
                <a:srgbClr val="585049"/>
              </a:buClr>
              <a:buSzPts val="2168"/>
              <a:buFont typeface="Arial"/>
              <a:buChar char="•"/>
            </a:pPr>
            <a:r>
              <a:rPr b="0" i="0" lang="en-US" sz="2168" u="none" cap="none" strike="noStrike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 → API 통해 서버 전달</a:t>
            </a:r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10588038" y="8277420"/>
            <a:ext cx="1495574" cy="1495574"/>
            <a:chOff x="0" y="0"/>
            <a:chExt cx="1994099" cy="1994099"/>
          </a:xfrm>
        </p:grpSpPr>
        <p:grpSp>
          <p:nvGrpSpPr>
            <p:cNvPr id="144" name="Google Shape;144;p4"/>
            <p:cNvGrpSpPr/>
            <p:nvPr/>
          </p:nvGrpSpPr>
          <p:grpSpPr>
            <a:xfrm>
              <a:off x="0" y="0"/>
              <a:ext cx="1994099" cy="1994099"/>
              <a:chOff x="0" y="0"/>
              <a:chExt cx="812800" cy="812800"/>
            </a:xfrm>
          </p:grpSpPr>
          <p:sp>
            <p:nvSpPr>
              <p:cNvPr id="145" name="Google Shape;145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8504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21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" name="Google Shape;147;p4"/>
            <p:cNvSpPr txBox="1"/>
            <p:nvPr/>
          </p:nvSpPr>
          <p:spPr>
            <a:xfrm>
              <a:off x="45715" y="635764"/>
              <a:ext cx="1948384" cy="58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000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56">
                  <a:solidFill>
                    <a:srgbClr val="F9FAF5"/>
                  </a:solidFill>
                  <a:latin typeface="Arial"/>
                  <a:ea typeface="Arial"/>
                  <a:cs typeface="Arial"/>
                  <a:sym typeface="Arial"/>
                </a:rPr>
                <a:t>결과반환</a:t>
              </a:r>
              <a:endParaRPr/>
            </a:p>
          </p:txBody>
        </p:sp>
      </p:grpSp>
      <p:sp>
        <p:nvSpPr>
          <p:cNvPr id="148" name="Google Shape;148;p4"/>
          <p:cNvSpPr txBox="1"/>
          <p:nvPr/>
        </p:nvSpPr>
        <p:spPr>
          <a:xfrm>
            <a:off x="12878860" y="8561247"/>
            <a:ext cx="3620161" cy="842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4138" lvl="1" marL="468276" marR="0" rtl="0" algn="l">
              <a:lnSpc>
                <a:spcPct val="159040"/>
              </a:lnSpc>
              <a:spcBef>
                <a:spcPts val="0"/>
              </a:spcBef>
              <a:spcAft>
                <a:spcPts val="0"/>
              </a:spcAft>
              <a:buClr>
                <a:srgbClr val="585049"/>
              </a:buClr>
              <a:buSzPts val="2168"/>
              <a:buFont typeface="Arial"/>
              <a:buChar char="•"/>
            </a:pPr>
            <a:r>
              <a:rPr b="0" i="0" lang="en-US" sz="2168" u="none" cap="none" strike="noStrike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JSON 형태 일정 생성</a:t>
            </a:r>
            <a:endParaRPr/>
          </a:p>
          <a:p>
            <a:pPr indent="-234138" lvl="1" marL="468276" marR="0" rtl="0" algn="l">
              <a:lnSpc>
                <a:spcPct val="159040"/>
              </a:lnSpc>
              <a:spcBef>
                <a:spcPts val="0"/>
              </a:spcBef>
              <a:spcAft>
                <a:spcPts val="0"/>
              </a:spcAft>
              <a:buClr>
                <a:srgbClr val="585049"/>
              </a:buClr>
              <a:buSzPts val="2168"/>
              <a:buFont typeface="Arial"/>
              <a:buChar char="•"/>
            </a:pPr>
            <a:r>
              <a:rPr b="0" i="0" lang="en-US" sz="2168" u="none" cap="none" strike="noStrike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 → 지도 &amp; 타임라인 시각화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381374" y="2995435"/>
            <a:ext cx="9416089" cy="6265760"/>
          </a:xfrm>
          <a:custGeom>
            <a:rect b="b" l="l" r="r" t="t"/>
            <a:pathLst>
              <a:path extrusionOk="0" h="646781" w="971973">
                <a:moveTo>
                  <a:pt x="18911" y="0"/>
                </a:moveTo>
                <a:lnTo>
                  <a:pt x="953062" y="0"/>
                </a:lnTo>
                <a:cubicBezTo>
                  <a:pt x="958078" y="0"/>
                  <a:pt x="962888" y="1992"/>
                  <a:pt x="966434" y="5539"/>
                </a:cubicBezTo>
                <a:cubicBezTo>
                  <a:pt x="969981" y="9085"/>
                  <a:pt x="971973" y="13895"/>
                  <a:pt x="971973" y="18911"/>
                </a:cubicBezTo>
                <a:lnTo>
                  <a:pt x="971973" y="627871"/>
                </a:lnTo>
                <a:cubicBezTo>
                  <a:pt x="971973" y="638315"/>
                  <a:pt x="963506" y="646781"/>
                  <a:pt x="953062" y="646781"/>
                </a:cubicBezTo>
                <a:lnTo>
                  <a:pt x="18911" y="646781"/>
                </a:lnTo>
                <a:cubicBezTo>
                  <a:pt x="13895" y="646781"/>
                  <a:pt x="9085" y="644789"/>
                  <a:pt x="5539" y="641242"/>
                </a:cubicBezTo>
                <a:cubicBezTo>
                  <a:pt x="1992" y="637696"/>
                  <a:pt x="0" y="632886"/>
                  <a:pt x="0" y="627871"/>
                </a:cubicBezTo>
                <a:lnTo>
                  <a:pt x="0" y="18911"/>
                </a:lnTo>
                <a:cubicBezTo>
                  <a:pt x="0" y="13895"/>
                  <a:pt x="1992" y="9085"/>
                  <a:pt x="5539" y="5539"/>
                </a:cubicBezTo>
                <a:cubicBezTo>
                  <a:pt x="9085" y="1992"/>
                  <a:pt x="13895" y="0"/>
                  <a:pt x="1891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707" r="-270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E7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5"/>
          <p:cNvCxnSpPr/>
          <p:nvPr/>
        </p:nvCxnSpPr>
        <p:spPr>
          <a:xfrm>
            <a:off x="-181331" y="1990473"/>
            <a:ext cx="18469331" cy="0"/>
          </a:xfrm>
          <a:prstGeom prst="straightConnector1">
            <a:avLst/>
          </a:prstGeom>
          <a:noFill/>
          <a:ln cap="flat" cmpd="sng" w="19050">
            <a:solidFill>
              <a:srgbClr val="C6C8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5"/>
          <p:cNvSpPr/>
          <p:nvPr/>
        </p:nvSpPr>
        <p:spPr>
          <a:xfrm>
            <a:off x="2435180" y="2228598"/>
            <a:ext cx="6225115" cy="8058402"/>
          </a:xfrm>
          <a:custGeom>
            <a:rect b="b" l="l" r="r" t="t"/>
            <a:pathLst>
              <a:path extrusionOk="0" h="8058402" w="6225115">
                <a:moveTo>
                  <a:pt x="0" y="0"/>
                </a:moveTo>
                <a:lnTo>
                  <a:pt x="6225115" y="0"/>
                </a:lnTo>
                <a:lnTo>
                  <a:pt x="6225115" y="8058402"/>
                </a:lnTo>
                <a:lnTo>
                  <a:pt x="0" y="8058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1028700" y="607761"/>
            <a:ext cx="1129218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2157918" y="607761"/>
            <a:ext cx="15046127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Expected Output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9374495" y="4555110"/>
            <a:ext cx="7829550" cy="260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👤 사용자 맞춤형 여행 정보 입력 인터페이스</a:t>
            </a:r>
            <a:endParaRPr sz="3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9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💬 자연어 기반 여행 조건 입력 지원</a:t>
            </a:r>
            <a:endParaRPr sz="3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9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🖥️ 직관적인 UI를 통한 간편한 사용 경험</a:t>
            </a:r>
            <a:endParaRPr sz="3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9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🤖 AI 기반 여행 일정 생성 기능 제공</a:t>
            </a:r>
            <a:endParaRPr sz="3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E7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/>
          <p:nvPr/>
        </p:nvSpPr>
        <p:spPr>
          <a:xfrm>
            <a:off x="1028700" y="607761"/>
            <a:ext cx="1129218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04.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2157918" y="593473"/>
            <a:ext cx="15046127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Development Timeline</a:t>
            </a:r>
            <a:endParaRPr/>
          </a:p>
        </p:txBody>
      </p:sp>
      <p:cxnSp>
        <p:nvCxnSpPr>
          <p:cNvPr id="165" name="Google Shape;165;p6"/>
          <p:cNvCxnSpPr/>
          <p:nvPr/>
        </p:nvCxnSpPr>
        <p:spPr>
          <a:xfrm>
            <a:off x="-181331" y="1990473"/>
            <a:ext cx="18469331" cy="0"/>
          </a:xfrm>
          <a:prstGeom prst="straightConnector1">
            <a:avLst/>
          </a:prstGeom>
          <a:noFill/>
          <a:ln cap="flat" cmpd="sng" w="19050">
            <a:solidFill>
              <a:srgbClr val="C6C8B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" name="Google Shape;166;p6"/>
          <p:cNvGrpSpPr/>
          <p:nvPr/>
        </p:nvGrpSpPr>
        <p:grpSpPr>
          <a:xfrm>
            <a:off x="1192803" y="3328668"/>
            <a:ext cx="987360" cy="987360"/>
            <a:chOff x="0" y="0"/>
            <a:chExt cx="556826" cy="556826"/>
          </a:xfrm>
        </p:grpSpPr>
        <p:sp>
          <p:nvSpPr>
            <p:cNvPr id="167" name="Google Shape;167;p6"/>
            <p:cNvSpPr/>
            <p:nvPr/>
          </p:nvSpPr>
          <p:spPr>
            <a:xfrm>
              <a:off x="0" y="0"/>
              <a:ext cx="556826" cy="556826"/>
            </a:xfrm>
            <a:custGeom>
              <a:rect b="b" l="l" r="r" t="t"/>
              <a:pathLst>
                <a:path extrusionOk="0" h="556826" w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C6C8B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6"/>
            <p:cNvSpPr txBox="1"/>
            <p:nvPr/>
          </p:nvSpPr>
          <p:spPr>
            <a:xfrm>
              <a:off x="52202" y="4577"/>
              <a:ext cx="452421" cy="500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69" name="Google Shape;169;p6"/>
          <p:cNvSpPr txBox="1"/>
          <p:nvPr/>
        </p:nvSpPr>
        <p:spPr>
          <a:xfrm>
            <a:off x="9026688" y="5741158"/>
            <a:ext cx="2562738" cy="3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2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8 WEEKS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9025028" y="6291669"/>
            <a:ext cx="2562738" cy="409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7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중간 보고 및 평가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409265" y="5741158"/>
            <a:ext cx="2562738" cy="3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2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1–3 WEEKS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0" y="6244482"/>
            <a:ext cx="2830433" cy="878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8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팀 구성 및 주제 선정</a:t>
            </a:r>
            <a:endParaRPr sz="220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688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기술 조사 및 발표</a:t>
            </a:r>
            <a:endParaRPr sz="220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3281739" y="5741158"/>
            <a:ext cx="2562738" cy="3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2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4–5 WEEKS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3115819" y="6291669"/>
            <a:ext cx="3035904" cy="882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프로젝트 제안서 작성</a:t>
            </a:r>
            <a:endParaRPr sz="240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역할 분담 및 기획</a:t>
            </a:r>
            <a:endParaRPr sz="240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6154213" y="5741158"/>
            <a:ext cx="2562738" cy="3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2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6–7 WEEKS 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6151723" y="6291669"/>
            <a:ext cx="2562738" cy="915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7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시스템 설계 </a:t>
            </a:r>
            <a:endParaRPr/>
          </a:p>
          <a:p>
            <a:pPr indent="0" lvl="0" marL="0" marR="0" rtl="0" algn="ctr">
              <a:lnSpc>
                <a:spcPct val="14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7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(기본/상세 설계)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11903751" y="5741158"/>
            <a:ext cx="2562738" cy="3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2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9–14 WEEKS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11730640" y="6254007"/>
            <a:ext cx="3585559" cy="1270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단계별 구현 </a:t>
            </a:r>
            <a:endParaRPr/>
          </a:p>
          <a:p>
            <a:pPr indent="0" lvl="0" marL="0" marR="0" rtl="0" algn="ctr">
              <a:lnSpc>
                <a:spcPct val="14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(Frontend + AI +RAG)</a:t>
            </a:r>
            <a:endParaRPr/>
          </a:p>
          <a:p>
            <a:pPr indent="0" lvl="0" marL="0" marR="0" rtl="0" algn="ctr">
              <a:lnSpc>
                <a:spcPct val="14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최종 결과물 점검 및 보완</a:t>
            </a:r>
            <a:endParaRPr sz="2377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14771636" y="5741158"/>
            <a:ext cx="2562738" cy="388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2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15 WEEK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14461901" y="6291669"/>
            <a:ext cx="3405750" cy="915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7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최종 발표 </a:t>
            </a:r>
            <a:endParaRPr/>
          </a:p>
          <a:p>
            <a:pPr indent="0" lvl="0" marL="0" marR="0" rtl="0" algn="ctr">
              <a:lnSpc>
                <a:spcPct val="14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77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6"/>
          <p:cNvGrpSpPr/>
          <p:nvPr/>
        </p:nvGrpSpPr>
        <p:grpSpPr>
          <a:xfrm>
            <a:off x="15559326" y="3328668"/>
            <a:ext cx="987360" cy="987360"/>
            <a:chOff x="0" y="0"/>
            <a:chExt cx="556826" cy="556826"/>
          </a:xfrm>
        </p:grpSpPr>
        <p:sp>
          <p:nvSpPr>
            <p:cNvPr id="182" name="Google Shape;182;p6"/>
            <p:cNvSpPr/>
            <p:nvPr/>
          </p:nvSpPr>
          <p:spPr>
            <a:xfrm>
              <a:off x="0" y="0"/>
              <a:ext cx="556826" cy="556826"/>
            </a:xfrm>
            <a:custGeom>
              <a:rect b="b" l="l" r="r" t="t"/>
              <a:pathLst>
                <a:path extrusionOk="0" h="556826" w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4740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6"/>
            <p:cNvSpPr txBox="1"/>
            <p:nvPr/>
          </p:nvSpPr>
          <p:spPr>
            <a:xfrm>
              <a:off x="52202" y="4577"/>
              <a:ext cx="452421" cy="500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grpSp>
        <p:nvGrpSpPr>
          <p:cNvPr id="184" name="Google Shape;184;p6"/>
          <p:cNvGrpSpPr/>
          <p:nvPr/>
        </p:nvGrpSpPr>
        <p:grpSpPr>
          <a:xfrm>
            <a:off x="4138164" y="3310654"/>
            <a:ext cx="987360" cy="987360"/>
            <a:chOff x="0" y="0"/>
            <a:chExt cx="556826" cy="556826"/>
          </a:xfrm>
        </p:grpSpPr>
        <p:sp>
          <p:nvSpPr>
            <p:cNvPr id="185" name="Google Shape;185;p6"/>
            <p:cNvSpPr/>
            <p:nvPr/>
          </p:nvSpPr>
          <p:spPr>
            <a:xfrm>
              <a:off x="0" y="0"/>
              <a:ext cx="556826" cy="556826"/>
            </a:xfrm>
            <a:custGeom>
              <a:rect b="b" l="l" r="r" t="t"/>
              <a:pathLst>
                <a:path extrusionOk="0" h="556826" w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B2B0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6"/>
            <p:cNvSpPr txBox="1"/>
            <p:nvPr/>
          </p:nvSpPr>
          <p:spPr>
            <a:xfrm>
              <a:off x="52202" y="4577"/>
              <a:ext cx="452421" cy="500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87" name="Google Shape;187;p6"/>
          <p:cNvGrpSpPr/>
          <p:nvPr/>
        </p:nvGrpSpPr>
        <p:grpSpPr>
          <a:xfrm>
            <a:off x="6939412" y="3328668"/>
            <a:ext cx="987360" cy="987360"/>
            <a:chOff x="0" y="0"/>
            <a:chExt cx="556826" cy="556826"/>
          </a:xfrm>
        </p:grpSpPr>
        <p:sp>
          <p:nvSpPr>
            <p:cNvPr id="188" name="Google Shape;188;p6"/>
            <p:cNvSpPr/>
            <p:nvPr/>
          </p:nvSpPr>
          <p:spPr>
            <a:xfrm>
              <a:off x="0" y="0"/>
              <a:ext cx="556826" cy="556826"/>
            </a:xfrm>
            <a:custGeom>
              <a:rect b="b" l="l" r="r" t="t"/>
              <a:pathLst>
                <a:path extrusionOk="0" h="556826" w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A48F7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6"/>
            <p:cNvSpPr txBox="1"/>
            <p:nvPr/>
          </p:nvSpPr>
          <p:spPr>
            <a:xfrm>
              <a:off x="52202" y="4577"/>
              <a:ext cx="452421" cy="500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90" name="Google Shape;190;p6"/>
          <p:cNvGrpSpPr/>
          <p:nvPr/>
        </p:nvGrpSpPr>
        <p:grpSpPr>
          <a:xfrm>
            <a:off x="9812717" y="3328668"/>
            <a:ext cx="987360" cy="987360"/>
            <a:chOff x="0" y="0"/>
            <a:chExt cx="556826" cy="556826"/>
          </a:xfrm>
        </p:grpSpPr>
        <p:sp>
          <p:nvSpPr>
            <p:cNvPr id="191" name="Google Shape;191;p6"/>
            <p:cNvSpPr/>
            <p:nvPr/>
          </p:nvSpPr>
          <p:spPr>
            <a:xfrm>
              <a:off x="0" y="0"/>
              <a:ext cx="556826" cy="556826"/>
            </a:xfrm>
            <a:custGeom>
              <a:rect b="b" l="l" r="r" t="t"/>
              <a:pathLst>
                <a:path extrusionOk="0" h="556826" w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58504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6"/>
            <p:cNvSpPr txBox="1"/>
            <p:nvPr/>
          </p:nvSpPr>
          <p:spPr>
            <a:xfrm>
              <a:off x="52202" y="4577"/>
              <a:ext cx="452421" cy="500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193" name="Google Shape;193;p6"/>
          <p:cNvGrpSpPr/>
          <p:nvPr/>
        </p:nvGrpSpPr>
        <p:grpSpPr>
          <a:xfrm>
            <a:off x="12686021" y="3328668"/>
            <a:ext cx="987360" cy="987360"/>
            <a:chOff x="0" y="0"/>
            <a:chExt cx="556826" cy="556826"/>
          </a:xfrm>
        </p:grpSpPr>
        <p:sp>
          <p:nvSpPr>
            <p:cNvPr id="194" name="Google Shape;194;p6"/>
            <p:cNvSpPr/>
            <p:nvPr/>
          </p:nvSpPr>
          <p:spPr>
            <a:xfrm>
              <a:off x="0" y="0"/>
              <a:ext cx="556826" cy="556826"/>
            </a:xfrm>
            <a:custGeom>
              <a:rect b="b" l="l" r="r" t="t"/>
              <a:pathLst>
                <a:path extrusionOk="0" h="556826" w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4947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52202" y="4577"/>
              <a:ext cx="452421" cy="500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cxnSp>
        <p:nvCxnSpPr>
          <p:cNvPr id="196" name="Google Shape;196;p6"/>
          <p:cNvCxnSpPr/>
          <p:nvPr/>
        </p:nvCxnSpPr>
        <p:spPr>
          <a:xfrm>
            <a:off x="1686483" y="4316028"/>
            <a:ext cx="0" cy="826014"/>
          </a:xfrm>
          <a:prstGeom prst="straightConnector1">
            <a:avLst/>
          </a:prstGeom>
          <a:noFill/>
          <a:ln cap="flat" cmpd="sng" w="47625">
            <a:solidFill>
              <a:srgbClr val="585049"/>
            </a:solidFill>
            <a:prstDash val="solid"/>
            <a:round/>
            <a:headEnd len="sm" w="sm" type="none"/>
            <a:tailEnd len="lg" w="lg" type="oval"/>
          </a:ln>
        </p:spPr>
      </p:cxnSp>
      <p:cxnSp>
        <p:nvCxnSpPr>
          <p:cNvPr id="197" name="Google Shape;197;p6"/>
          <p:cNvCxnSpPr/>
          <p:nvPr/>
        </p:nvCxnSpPr>
        <p:spPr>
          <a:xfrm>
            <a:off x="4631844" y="4298015"/>
            <a:ext cx="0" cy="844799"/>
          </a:xfrm>
          <a:prstGeom prst="straightConnector1">
            <a:avLst/>
          </a:prstGeom>
          <a:noFill/>
          <a:ln cap="flat" cmpd="sng" w="47625">
            <a:solidFill>
              <a:srgbClr val="585049"/>
            </a:solidFill>
            <a:prstDash val="solid"/>
            <a:round/>
            <a:headEnd len="sm" w="sm" type="none"/>
            <a:tailEnd len="lg" w="lg" type="oval"/>
          </a:ln>
        </p:spPr>
      </p:cxnSp>
      <p:cxnSp>
        <p:nvCxnSpPr>
          <p:cNvPr id="198" name="Google Shape;198;p6"/>
          <p:cNvCxnSpPr/>
          <p:nvPr/>
        </p:nvCxnSpPr>
        <p:spPr>
          <a:xfrm>
            <a:off x="7433092" y="4316028"/>
            <a:ext cx="0" cy="826014"/>
          </a:xfrm>
          <a:prstGeom prst="straightConnector1">
            <a:avLst/>
          </a:prstGeom>
          <a:noFill/>
          <a:ln cap="flat" cmpd="sng" w="47625">
            <a:solidFill>
              <a:srgbClr val="585049"/>
            </a:solidFill>
            <a:prstDash val="solid"/>
            <a:round/>
            <a:headEnd len="sm" w="sm" type="none"/>
            <a:tailEnd len="lg" w="lg" type="oval"/>
          </a:ln>
        </p:spPr>
      </p:cxnSp>
      <p:cxnSp>
        <p:nvCxnSpPr>
          <p:cNvPr id="199" name="Google Shape;199;p6"/>
          <p:cNvCxnSpPr/>
          <p:nvPr/>
        </p:nvCxnSpPr>
        <p:spPr>
          <a:xfrm>
            <a:off x="10306397" y="4316028"/>
            <a:ext cx="0" cy="826014"/>
          </a:xfrm>
          <a:prstGeom prst="straightConnector1">
            <a:avLst/>
          </a:prstGeom>
          <a:noFill/>
          <a:ln cap="flat" cmpd="sng" w="47625">
            <a:solidFill>
              <a:srgbClr val="585049"/>
            </a:solidFill>
            <a:prstDash val="solid"/>
            <a:round/>
            <a:headEnd len="sm" w="sm" type="none"/>
            <a:tailEnd len="lg" w="lg" type="oval"/>
          </a:ln>
        </p:spPr>
      </p:cxnSp>
      <p:cxnSp>
        <p:nvCxnSpPr>
          <p:cNvPr id="200" name="Google Shape;200;p6"/>
          <p:cNvCxnSpPr/>
          <p:nvPr/>
        </p:nvCxnSpPr>
        <p:spPr>
          <a:xfrm>
            <a:off x="13179701" y="4316028"/>
            <a:ext cx="0" cy="826014"/>
          </a:xfrm>
          <a:prstGeom prst="straightConnector1">
            <a:avLst/>
          </a:prstGeom>
          <a:noFill/>
          <a:ln cap="flat" cmpd="sng" w="47625">
            <a:solidFill>
              <a:srgbClr val="585049"/>
            </a:solidFill>
            <a:prstDash val="solid"/>
            <a:round/>
            <a:headEnd len="sm" w="sm" type="none"/>
            <a:tailEnd len="lg" w="lg" type="oval"/>
          </a:ln>
        </p:spPr>
      </p:cxnSp>
      <p:cxnSp>
        <p:nvCxnSpPr>
          <p:cNvPr id="201" name="Google Shape;201;p6"/>
          <p:cNvCxnSpPr/>
          <p:nvPr/>
        </p:nvCxnSpPr>
        <p:spPr>
          <a:xfrm>
            <a:off x="16053006" y="4316028"/>
            <a:ext cx="0" cy="826785"/>
          </a:xfrm>
          <a:prstGeom prst="straightConnector1">
            <a:avLst/>
          </a:prstGeom>
          <a:noFill/>
          <a:ln cap="flat" cmpd="sng" w="47625">
            <a:solidFill>
              <a:srgbClr val="585049"/>
            </a:solidFill>
            <a:prstDash val="solid"/>
            <a:round/>
            <a:headEnd len="sm" w="sm" type="none"/>
            <a:tailEnd len="lg" w="lg" type="oval"/>
          </a:ln>
        </p:spPr>
      </p:cxnSp>
      <p:cxnSp>
        <p:nvCxnSpPr>
          <p:cNvPr id="202" name="Google Shape;202;p6"/>
          <p:cNvCxnSpPr/>
          <p:nvPr/>
        </p:nvCxnSpPr>
        <p:spPr>
          <a:xfrm flipH="1" rot="10800000">
            <a:off x="2180163" y="3804335"/>
            <a:ext cx="1958000" cy="18014"/>
          </a:xfrm>
          <a:prstGeom prst="straightConnector1">
            <a:avLst/>
          </a:prstGeom>
          <a:noFill/>
          <a:ln cap="flat" cmpd="sng" w="57150">
            <a:solidFill>
              <a:srgbClr val="5850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6"/>
          <p:cNvCxnSpPr/>
          <p:nvPr/>
        </p:nvCxnSpPr>
        <p:spPr>
          <a:xfrm>
            <a:off x="5125524" y="3804335"/>
            <a:ext cx="1813889" cy="18014"/>
          </a:xfrm>
          <a:prstGeom prst="straightConnector1">
            <a:avLst/>
          </a:prstGeom>
          <a:noFill/>
          <a:ln cap="flat" cmpd="sng" w="57150">
            <a:solidFill>
              <a:srgbClr val="5850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6"/>
          <p:cNvCxnSpPr/>
          <p:nvPr/>
        </p:nvCxnSpPr>
        <p:spPr>
          <a:xfrm>
            <a:off x="7926772" y="3822348"/>
            <a:ext cx="1885944" cy="0"/>
          </a:xfrm>
          <a:prstGeom prst="straightConnector1">
            <a:avLst/>
          </a:prstGeom>
          <a:noFill/>
          <a:ln cap="flat" cmpd="sng" w="57150">
            <a:solidFill>
              <a:srgbClr val="5850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6"/>
          <p:cNvCxnSpPr/>
          <p:nvPr/>
        </p:nvCxnSpPr>
        <p:spPr>
          <a:xfrm>
            <a:off x="10800077" y="3822348"/>
            <a:ext cx="1885944" cy="0"/>
          </a:xfrm>
          <a:prstGeom prst="straightConnector1">
            <a:avLst/>
          </a:prstGeom>
          <a:noFill/>
          <a:ln cap="flat" cmpd="sng" w="57150">
            <a:solidFill>
              <a:srgbClr val="5850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6"/>
          <p:cNvCxnSpPr/>
          <p:nvPr/>
        </p:nvCxnSpPr>
        <p:spPr>
          <a:xfrm>
            <a:off x="13673381" y="3822348"/>
            <a:ext cx="1885944" cy="0"/>
          </a:xfrm>
          <a:prstGeom prst="straightConnector1">
            <a:avLst/>
          </a:prstGeom>
          <a:noFill/>
          <a:ln cap="flat" cmpd="sng" w="57150">
            <a:solidFill>
              <a:srgbClr val="58504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2E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7"/>
          <p:cNvCxnSpPr/>
          <p:nvPr/>
        </p:nvCxnSpPr>
        <p:spPr>
          <a:xfrm>
            <a:off x="-181331" y="1990473"/>
            <a:ext cx="18469331" cy="0"/>
          </a:xfrm>
          <a:prstGeom prst="straightConnector1">
            <a:avLst/>
          </a:prstGeom>
          <a:noFill/>
          <a:ln cap="flat" cmpd="sng" w="19050">
            <a:solidFill>
              <a:srgbClr val="C6C8B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7"/>
          <p:cNvSpPr txBox="1"/>
          <p:nvPr/>
        </p:nvSpPr>
        <p:spPr>
          <a:xfrm>
            <a:off x="1028700" y="607761"/>
            <a:ext cx="1184473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585049"/>
                </a:solidFill>
                <a:latin typeface="Arial"/>
                <a:ea typeface="Arial"/>
                <a:cs typeface="Arial"/>
                <a:sym typeface="Arial"/>
              </a:rPr>
              <a:t>05.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2213173" y="588711"/>
            <a:ext cx="15046127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Expected Impact</a:t>
            </a:r>
            <a:endParaRPr/>
          </a:p>
        </p:txBody>
      </p:sp>
      <p:grpSp>
        <p:nvGrpSpPr>
          <p:cNvPr id="214" name="Google Shape;214;p7"/>
          <p:cNvGrpSpPr/>
          <p:nvPr/>
        </p:nvGrpSpPr>
        <p:grpSpPr>
          <a:xfrm>
            <a:off x="12464238" y="2747683"/>
            <a:ext cx="4503381" cy="1900251"/>
            <a:chOff x="0" y="-95250"/>
            <a:chExt cx="1186075" cy="500478"/>
          </a:xfrm>
        </p:grpSpPr>
        <p:sp>
          <p:nvSpPr>
            <p:cNvPr id="215" name="Google Shape;215;p7"/>
            <p:cNvSpPr/>
            <p:nvPr/>
          </p:nvSpPr>
          <p:spPr>
            <a:xfrm>
              <a:off x="0" y="0"/>
              <a:ext cx="1186075" cy="405228"/>
            </a:xfrm>
            <a:custGeom>
              <a:rect b="b" l="l" r="r" t="t"/>
              <a:pathLst>
                <a:path extrusionOk="0" h="405228" w="1186075">
                  <a:moveTo>
                    <a:pt x="87676" y="0"/>
                  </a:moveTo>
                  <a:lnTo>
                    <a:pt x="1098399" y="0"/>
                  </a:lnTo>
                  <a:cubicBezTo>
                    <a:pt x="1121652" y="0"/>
                    <a:pt x="1143952" y="9237"/>
                    <a:pt x="1160395" y="25680"/>
                  </a:cubicBezTo>
                  <a:cubicBezTo>
                    <a:pt x="1176837" y="42122"/>
                    <a:pt x="1186075" y="64423"/>
                    <a:pt x="1186075" y="87676"/>
                  </a:cubicBezTo>
                  <a:lnTo>
                    <a:pt x="1186075" y="317552"/>
                  </a:lnTo>
                  <a:cubicBezTo>
                    <a:pt x="1186075" y="340805"/>
                    <a:pt x="1176837" y="363105"/>
                    <a:pt x="1160395" y="379548"/>
                  </a:cubicBezTo>
                  <a:cubicBezTo>
                    <a:pt x="1143952" y="395990"/>
                    <a:pt x="1121652" y="405228"/>
                    <a:pt x="1098399" y="405228"/>
                  </a:cubicBezTo>
                  <a:lnTo>
                    <a:pt x="87676" y="405228"/>
                  </a:lnTo>
                  <a:cubicBezTo>
                    <a:pt x="64423" y="405228"/>
                    <a:pt x="42122" y="395990"/>
                    <a:pt x="25680" y="379548"/>
                  </a:cubicBezTo>
                  <a:cubicBezTo>
                    <a:pt x="9237" y="363105"/>
                    <a:pt x="0" y="340805"/>
                    <a:pt x="0" y="317552"/>
                  </a:cubicBezTo>
                  <a:lnTo>
                    <a:pt x="0" y="87676"/>
                  </a:lnTo>
                  <a:cubicBezTo>
                    <a:pt x="0" y="64423"/>
                    <a:pt x="9237" y="42122"/>
                    <a:pt x="25680" y="25680"/>
                  </a:cubicBezTo>
                  <a:cubicBezTo>
                    <a:pt x="42122" y="9237"/>
                    <a:pt x="64423" y="0"/>
                    <a:pt x="87676" y="0"/>
                  </a:cubicBezTo>
                  <a:close/>
                </a:path>
              </a:pathLst>
            </a:custGeom>
            <a:solidFill>
              <a:srgbClr val="F9FAF5"/>
            </a:solidFill>
            <a:ln cap="rnd" cmpd="sng" w="19050">
              <a:solidFill>
                <a:srgbClr val="C6C8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7"/>
            <p:cNvSpPr txBox="1"/>
            <p:nvPr/>
          </p:nvSpPr>
          <p:spPr>
            <a:xfrm>
              <a:off x="0" y="-95250"/>
              <a:ext cx="1186074" cy="500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1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7"/>
          <p:cNvSpPr txBox="1"/>
          <p:nvPr/>
        </p:nvSpPr>
        <p:spPr>
          <a:xfrm>
            <a:off x="12464238" y="4838700"/>
            <a:ext cx="4540651" cy="4778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1468" lvl="1" marL="582936" marR="0" rtl="0" algn="l">
              <a:lnSpc>
                <a:spcPct val="235999"/>
              </a:lnSpc>
              <a:spcBef>
                <a:spcPts val="0"/>
              </a:spcBef>
              <a:spcAft>
                <a:spcPts val="0"/>
              </a:spcAft>
              <a:buClr>
                <a:srgbClr val="494739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여행 플랫폼 기업 및 공공 관광 기관과 연계하여</a:t>
            </a:r>
            <a:endParaRPr b="1" i="0" sz="2700" u="none" cap="none" strike="noStrike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3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     서비스로 확장 가능</a:t>
            </a:r>
            <a:endParaRPr b="1" sz="2700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8" lvl="1" marL="582936" marR="0" rtl="0" algn="l">
              <a:lnSpc>
                <a:spcPct val="235999"/>
              </a:lnSpc>
              <a:spcBef>
                <a:spcPts val="0"/>
              </a:spcBef>
              <a:spcAft>
                <a:spcPts val="0"/>
              </a:spcAft>
              <a:buClr>
                <a:srgbClr val="494739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공모전 및 포트폴리오 활용 가능</a:t>
            </a:r>
            <a:endParaRPr b="1" i="0" sz="2700" u="none" cap="none" strike="noStrike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3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13420586" y="3521446"/>
            <a:ext cx="2590681" cy="57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확장 및 활용</a:t>
            </a:r>
            <a:endParaRPr b="1" sz="3600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7"/>
          <p:cNvGrpSpPr/>
          <p:nvPr/>
        </p:nvGrpSpPr>
        <p:grpSpPr>
          <a:xfrm>
            <a:off x="426470" y="2747683"/>
            <a:ext cx="4503381" cy="1900251"/>
            <a:chOff x="0" y="-95250"/>
            <a:chExt cx="1186075" cy="500478"/>
          </a:xfrm>
        </p:grpSpPr>
        <p:sp>
          <p:nvSpPr>
            <p:cNvPr id="220" name="Google Shape;220;p7"/>
            <p:cNvSpPr/>
            <p:nvPr/>
          </p:nvSpPr>
          <p:spPr>
            <a:xfrm>
              <a:off x="0" y="0"/>
              <a:ext cx="1186075" cy="405228"/>
            </a:xfrm>
            <a:custGeom>
              <a:rect b="b" l="l" r="r" t="t"/>
              <a:pathLst>
                <a:path extrusionOk="0" h="405228" w="1186075">
                  <a:moveTo>
                    <a:pt x="87676" y="0"/>
                  </a:moveTo>
                  <a:lnTo>
                    <a:pt x="1098399" y="0"/>
                  </a:lnTo>
                  <a:cubicBezTo>
                    <a:pt x="1121652" y="0"/>
                    <a:pt x="1143952" y="9237"/>
                    <a:pt x="1160395" y="25680"/>
                  </a:cubicBezTo>
                  <a:cubicBezTo>
                    <a:pt x="1176837" y="42122"/>
                    <a:pt x="1186075" y="64423"/>
                    <a:pt x="1186075" y="87676"/>
                  </a:cubicBezTo>
                  <a:lnTo>
                    <a:pt x="1186075" y="317552"/>
                  </a:lnTo>
                  <a:cubicBezTo>
                    <a:pt x="1186075" y="340805"/>
                    <a:pt x="1176837" y="363105"/>
                    <a:pt x="1160395" y="379548"/>
                  </a:cubicBezTo>
                  <a:cubicBezTo>
                    <a:pt x="1143952" y="395990"/>
                    <a:pt x="1121652" y="405228"/>
                    <a:pt x="1098399" y="405228"/>
                  </a:cubicBezTo>
                  <a:lnTo>
                    <a:pt x="87676" y="405228"/>
                  </a:lnTo>
                  <a:cubicBezTo>
                    <a:pt x="64423" y="405228"/>
                    <a:pt x="42122" y="395990"/>
                    <a:pt x="25680" y="379548"/>
                  </a:cubicBezTo>
                  <a:cubicBezTo>
                    <a:pt x="9237" y="363105"/>
                    <a:pt x="0" y="340805"/>
                    <a:pt x="0" y="317552"/>
                  </a:cubicBezTo>
                  <a:lnTo>
                    <a:pt x="0" y="87676"/>
                  </a:lnTo>
                  <a:cubicBezTo>
                    <a:pt x="0" y="64423"/>
                    <a:pt x="9237" y="42122"/>
                    <a:pt x="25680" y="25680"/>
                  </a:cubicBezTo>
                  <a:cubicBezTo>
                    <a:pt x="42122" y="9237"/>
                    <a:pt x="64423" y="0"/>
                    <a:pt x="87676" y="0"/>
                  </a:cubicBezTo>
                  <a:close/>
                </a:path>
              </a:pathLst>
            </a:custGeom>
            <a:solidFill>
              <a:srgbClr val="F9FAF5"/>
            </a:solidFill>
            <a:ln cap="rnd" cmpd="sng" w="19050">
              <a:solidFill>
                <a:srgbClr val="C6C8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7"/>
            <p:cNvSpPr txBox="1"/>
            <p:nvPr/>
          </p:nvSpPr>
          <p:spPr>
            <a:xfrm>
              <a:off x="0" y="-95250"/>
              <a:ext cx="1186074" cy="500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1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7"/>
          <p:cNvSpPr txBox="1"/>
          <p:nvPr/>
        </p:nvSpPr>
        <p:spPr>
          <a:xfrm>
            <a:off x="426470" y="4838700"/>
            <a:ext cx="4449317" cy="4778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1468" lvl="1" marL="582936" marR="0" rtl="0" algn="l">
              <a:lnSpc>
                <a:spcPct val="235999"/>
              </a:lnSpc>
              <a:spcBef>
                <a:spcPts val="0"/>
              </a:spcBef>
              <a:spcAft>
                <a:spcPts val="0"/>
              </a:spcAft>
              <a:buClr>
                <a:srgbClr val="494739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개인 맞춤형 여행 일정 자동 생성</a:t>
            </a:r>
            <a:endParaRPr b="1" i="0" sz="2700" u="none" cap="none" strike="noStrike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8" lvl="1" marL="582936" marR="0" rtl="0" algn="l">
              <a:lnSpc>
                <a:spcPct val="235999"/>
              </a:lnSpc>
              <a:spcBef>
                <a:spcPts val="0"/>
              </a:spcBef>
              <a:spcAft>
                <a:spcPts val="0"/>
              </a:spcAft>
              <a:buClr>
                <a:srgbClr val="494739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여행 계획 시간 절약</a:t>
            </a:r>
            <a:endParaRPr b="1" i="0" sz="2700" u="none" cap="none" strike="noStrike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8" lvl="1" marL="582936" marR="0" rtl="0" algn="l">
              <a:lnSpc>
                <a:spcPct val="235999"/>
              </a:lnSpc>
              <a:spcBef>
                <a:spcPts val="0"/>
              </a:spcBef>
              <a:spcAft>
                <a:spcPts val="0"/>
              </a:spcAft>
              <a:buClr>
                <a:srgbClr val="494739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직관적인 사용자 경험 제공</a:t>
            </a:r>
            <a:endParaRPr b="1" i="0" sz="2700" u="none" cap="none" strike="noStrike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3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1414634" y="3521446"/>
            <a:ext cx="2613853" cy="57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사용자 측면</a:t>
            </a:r>
            <a:endParaRPr b="1" sz="3600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7"/>
          <p:cNvGrpSpPr/>
          <p:nvPr/>
        </p:nvGrpSpPr>
        <p:grpSpPr>
          <a:xfrm>
            <a:off x="6533562" y="2747683"/>
            <a:ext cx="4503381" cy="1900251"/>
            <a:chOff x="0" y="-95250"/>
            <a:chExt cx="1186075" cy="500478"/>
          </a:xfrm>
        </p:grpSpPr>
        <p:sp>
          <p:nvSpPr>
            <p:cNvPr id="225" name="Google Shape;225;p7"/>
            <p:cNvSpPr/>
            <p:nvPr/>
          </p:nvSpPr>
          <p:spPr>
            <a:xfrm>
              <a:off x="0" y="0"/>
              <a:ext cx="1186075" cy="405228"/>
            </a:xfrm>
            <a:custGeom>
              <a:rect b="b" l="l" r="r" t="t"/>
              <a:pathLst>
                <a:path extrusionOk="0" h="405228" w="1186075">
                  <a:moveTo>
                    <a:pt x="87676" y="0"/>
                  </a:moveTo>
                  <a:lnTo>
                    <a:pt x="1098399" y="0"/>
                  </a:lnTo>
                  <a:cubicBezTo>
                    <a:pt x="1121652" y="0"/>
                    <a:pt x="1143952" y="9237"/>
                    <a:pt x="1160395" y="25680"/>
                  </a:cubicBezTo>
                  <a:cubicBezTo>
                    <a:pt x="1176837" y="42122"/>
                    <a:pt x="1186075" y="64423"/>
                    <a:pt x="1186075" y="87676"/>
                  </a:cubicBezTo>
                  <a:lnTo>
                    <a:pt x="1186075" y="317552"/>
                  </a:lnTo>
                  <a:cubicBezTo>
                    <a:pt x="1186075" y="340805"/>
                    <a:pt x="1176837" y="363105"/>
                    <a:pt x="1160395" y="379548"/>
                  </a:cubicBezTo>
                  <a:cubicBezTo>
                    <a:pt x="1143952" y="395990"/>
                    <a:pt x="1121652" y="405228"/>
                    <a:pt x="1098399" y="405228"/>
                  </a:cubicBezTo>
                  <a:lnTo>
                    <a:pt x="87676" y="405228"/>
                  </a:lnTo>
                  <a:cubicBezTo>
                    <a:pt x="64423" y="405228"/>
                    <a:pt x="42122" y="395990"/>
                    <a:pt x="25680" y="379548"/>
                  </a:cubicBezTo>
                  <a:cubicBezTo>
                    <a:pt x="9237" y="363105"/>
                    <a:pt x="0" y="340805"/>
                    <a:pt x="0" y="317552"/>
                  </a:cubicBezTo>
                  <a:lnTo>
                    <a:pt x="0" y="87676"/>
                  </a:lnTo>
                  <a:cubicBezTo>
                    <a:pt x="0" y="64423"/>
                    <a:pt x="9237" y="42122"/>
                    <a:pt x="25680" y="25680"/>
                  </a:cubicBezTo>
                  <a:cubicBezTo>
                    <a:pt x="42122" y="9237"/>
                    <a:pt x="64423" y="0"/>
                    <a:pt x="87676" y="0"/>
                  </a:cubicBezTo>
                  <a:close/>
                </a:path>
              </a:pathLst>
            </a:custGeom>
            <a:solidFill>
              <a:srgbClr val="F9FAF5"/>
            </a:solidFill>
            <a:ln cap="rnd" cmpd="sng" w="19050">
              <a:solidFill>
                <a:srgbClr val="C6C8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7"/>
            <p:cNvSpPr txBox="1"/>
            <p:nvPr/>
          </p:nvSpPr>
          <p:spPr>
            <a:xfrm>
              <a:off x="0" y="-95250"/>
              <a:ext cx="1186074" cy="500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1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7"/>
          <p:cNvSpPr txBox="1"/>
          <p:nvPr/>
        </p:nvSpPr>
        <p:spPr>
          <a:xfrm>
            <a:off x="6262559" y="4838700"/>
            <a:ext cx="5045382" cy="4778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1468" lvl="1" marL="582936" marR="0" rtl="0" algn="l">
              <a:lnSpc>
                <a:spcPct val="235999"/>
              </a:lnSpc>
              <a:spcBef>
                <a:spcPts val="0"/>
              </a:spcBef>
              <a:spcAft>
                <a:spcPts val="0"/>
              </a:spcAft>
              <a:buClr>
                <a:srgbClr val="494739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GPT-4o + RAG 융합 구조 구현 경험</a:t>
            </a:r>
            <a:endParaRPr b="1" i="0" sz="2700" u="none" cap="none" strike="noStrike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8" lvl="1" marL="582936" marR="0" rtl="0" algn="l">
              <a:lnSpc>
                <a:spcPct val="235999"/>
              </a:lnSpc>
              <a:spcBef>
                <a:spcPts val="0"/>
              </a:spcBef>
              <a:spcAft>
                <a:spcPts val="0"/>
              </a:spcAft>
              <a:buClr>
                <a:srgbClr val="494739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벡터 DB 활용 경험 확보</a:t>
            </a:r>
            <a:endParaRPr b="1" i="0" sz="2700" u="none" cap="none" strike="noStrike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8" lvl="1" marL="582936" marR="0" rtl="0" algn="l">
              <a:lnSpc>
                <a:spcPct val="235999"/>
              </a:lnSpc>
              <a:spcBef>
                <a:spcPts val="0"/>
              </a:spcBef>
              <a:spcAft>
                <a:spcPts val="0"/>
              </a:spcAft>
              <a:buClr>
                <a:srgbClr val="494739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AI 기반 서비스 개발 역량 강화</a:t>
            </a:r>
            <a:endParaRPr b="1" i="0" sz="2700" u="none" cap="none" strike="noStrike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3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7612588" y="3521446"/>
            <a:ext cx="2445812" cy="57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494739"/>
                </a:solidFill>
                <a:latin typeface="Arial"/>
                <a:ea typeface="Arial"/>
                <a:cs typeface="Arial"/>
                <a:sym typeface="Arial"/>
              </a:rPr>
              <a:t>기술적 측면</a:t>
            </a:r>
            <a:endParaRPr b="1" sz="3600">
              <a:solidFill>
                <a:srgbClr val="49473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2B09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"/>
          <p:cNvSpPr/>
          <p:nvPr/>
        </p:nvSpPr>
        <p:spPr>
          <a:xfrm>
            <a:off x="4137872" y="0"/>
            <a:ext cx="14150128" cy="10287000"/>
          </a:xfrm>
          <a:custGeom>
            <a:rect b="b" l="l" r="r" t="t"/>
            <a:pathLst>
              <a:path extrusionOk="0" h="10287000" w="14150128">
                <a:moveTo>
                  <a:pt x="0" y="0"/>
                </a:moveTo>
                <a:lnTo>
                  <a:pt x="14150128" y="0"/>
                </a:lnTo>
                <a:lnTo>
                  <a:pt x="141501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27" l="0" r="-11111" t="-62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" name="Google Shape;234;p8"/>
          <p:cNvGrpSpPr/>
          <p:nvPr/>
        </p:nvGrpSpPr>
        <p:grpSpPr>
          <a:xfrm>
            <a:off x="4137872" y="-831800"/>
            <a:ext cx="14150128" cy="11118800"/>
            <a:chOff x="0" y="-219075"/>
            <a:chExt cx="3726783" cy="2928408"/>
          </a:xfrm>
        </p:grpSpPr>
        <p:sp>
          <p:nvSpPr>
            <p:cNvPr id="235" name="Google Shape;235;p8"/>
            <p:cNvSpPr/>
            <p:nvPr/>
          </p:nvSpPr>
          <p:spPr>
            <a:xfrm>
              <a:off x="0" y="0"/>
              <a:ext cx="3726783" cy="2709333"/>
            </a:xfrm>
            <a:custGeom>
              <a:rect b="b" l="l" r="r" t="t"/>
              <a:pathLst>
                <a:path extrusionOk="0" h="2709333" w="3726783">
                  <a:moveTo>
                    <a:pt x="0" y="0"/>
                  </a:moveTo>
                  <a:lnTo>
                    <a:pt x="3726783" y="0"/>
                  </a:lnTo>
                  <a:lnTo>
                    <a:pt x="37267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7403B">
                <a:alpha val="7176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8"/>
            <p:cNvSpPr txBox="1"/>
            <p:nvPr/>
          </p:nvSpPr>
          <p:spPr>
            <a:xfrm>
              <a:off x="0" y="-219075"/>
              <a:ext cx="3726783" cy="29284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9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8"/>
          <p:cNvSpPr txBox="1"/>
          <p:nvPr/>
        </p:nvSpPr>
        <p:spPr>
          <a:xfrm>
            <a:off x="14055707" y="8675560"/>
            <a:ext cx="8095966" cy="822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34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99">
                <a:solidFill>
                  <a:srgbClr val="EFF2E7"/>
                </a:solidFill>
                <a:latin typeface="Arial"/>
                <a:ea typeface="Arial"/>
                <a:cs typeface="Arial"/>
                <a:sym typeface="Arial"/>
              </a:rPr>
              <a:t>COURSEBOX</a:t>
            </a:r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4765921" y="3199480"/>
            <a:ext cx="18225609" cy="213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84">
                <a:solidFill>
                  <a:srgbClr val="EFF2E7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12662916" y="9011985"/>
            <a:ext cx="1215809" cy="48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FF2E7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